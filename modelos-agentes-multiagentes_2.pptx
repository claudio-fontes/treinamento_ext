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treinamento. Objetivo: deixar claro o que é modelo, agente e multiagente; como cada um cobra; e como escolher a opção mais barata que resolve a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2344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4B3FB8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645920"/>
            <a:ext cx="2468880" cy="2468880"/>
          </a:xfrm>
          <a:prstGeom prst="roundRect">
            <a:avLst>
              <a:gd name="adj" fmla="val 4444"/>
            </a:avLst>
          </a:prstGeom>
          <a:solidFill>
            <a:srgbClr val="6C5CE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20574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00C2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21040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709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WORKSHOP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6596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Modelos, Agentes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Multiagentes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Conceitos, custos e as diferenças que realmente importam na prática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822960" cy="7315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de referência: setembro/2026 · valores mudam com frequência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percorrer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3100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31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8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tijolo básico: o que é um LLM, como ele processa tokens e como é cobrado.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40614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4061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8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3756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dentro de um loop, com ferramentas e um objetivo. Autonomia com custo variável.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869180"/>
            <a:ext cx="822960" cy="8229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8691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8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Multiagentes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8006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agentes coordenados. Mais poder, muito mais custo e complexidade.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Fechamos com uma tabela comparativa, a relação entre os três e boas práticas de custo.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54864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4B3FB8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2788920"/>
            <a:ext cx="822960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fundamental — tudo o mais é construído em cima dele.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modelo (LLM)?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 linguagem é uma função treinada: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um texto (prompt) e prevê o texto mais provável em resposta, um pedaço de cada vez.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memória própria: cada chamada é isolada (stateless).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executa ações no mundo — só produz texto.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"conhecimento" vem do treino + do que você põe no prompt.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peça que raciocina; sozinho, não faz nada além de responder.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1737360"/>
            <a:ext cx="4846320" cy="4023360"/>
          </a:xfrm>
          <a:prstGeom prst="roundRect">
            <a:avLst>
              <a:gd name="adj" fmla="val 2045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0" y="205740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E9E7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(entrada)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478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instruções + contexto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823960" y="2907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5CE7"/>
                </a:solidFill>
              </a:rPr>
              <a:t>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3760" y="320040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6C5C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621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tokens de saída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4050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5CE7"/>
                </a:solidFill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23760" y="434340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E9E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(saída)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764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gerado token a token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257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unidade de trabalho — e de cobrança — é o token (~¾ de uma palavra).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que explicam quase tudo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7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993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96596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é quebrado em tokens. Entrada e saída são medidas e cobradas em tokens — não em palavras nem em requisições.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52044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87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4564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contexto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42900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só "enxerga" o que cabe na janela (ex.: 200K tokens). Tudo — instruções, histórico, documentos — disputa esse espaço.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983480"/>
            <a:ext cx="777240" cy="7772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7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919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89204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lembra da conversa anterior. Qualquer memória é reenviada no prompt a cada chamada — o que aumenta os tokens de entrada.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existe "um" modelo — existem tamanhos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44240" cy="3566160"/>
          </a:xfrm>
          <a:prstGeom prst="roundRect">
            <a:avLst>
              <a:gd name="adj" fmla="val 2389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444240" cy="82296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444240" cy="2743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 / Frontier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89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complexo, tarefas ambíguas, código difícil.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Mais capaz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55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Mais caro e mais lento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8640" y="1783080"/>
            <a:ext cx="3444240" cy="3566160"/>
          </a:xfrm>
          <a:prstGeom prst="roundRect">
            <a:avLst>
              <a:gd name="adj" fmla="val 2389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640" y="1783080"/>
            <a:ext cx="3444240" cy="822960"/>
          </a:xfrm>
          <a:prstGeom prst="roundRect">
            <a:avLst>
              <a:gd name="adj" fmla="val 10000"/>
            </a:avLst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8640" y="2331720"/>
            <a:ext cx="3444240" cy="2743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95800" y="182880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32960" y="2834640"/>
            <a:ext cx="289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Equilíbrio: a maioria das tarefas de produção.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32960" y="425196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Bom custo-benefício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55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O "padrão" sensato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68640" y="1783080"/>
            <a:ext cx="3444240" cy="3566160"/>
          </a:xfrm>
          <a:prstGeom prst="roundRect">
            <a:avLst>
              <a:gd name="adj" fmla="val 2389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68640" y="1783080"/>
            <a:ext cx="3444240" cy="82296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18" name="Shape 16"/>
          <p:cNvSpPr/>
          <p:nvPr/>
        </p:nvSpPr>
        <p:spPr>
          <a:xfrm>
            <a:off x="8168640" y="2331720"/>
            <a:ext cx="3444240" cy="2743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05800" y="1828800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Pequeno / Mini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42960" y="2834640"/>
            <a:ext cx="289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Classificação, extração, respostas simples em alto volume.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42960" y="425196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Muito barato e rápido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55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Menos profundidade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use o menor modelo que resolve a tarefa com qualidade aceitável.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MODELOS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cobra por um modelo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da API tem dois preços diferentes, medidos por milhão de tokens (1M):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de ENTRADA (input)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você envia: instruções, histórico, documentos, resultados de ferramentas. Geralmente o mais barato.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0840" y="26060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de SAÍDA (output)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que o modelo gera. Custa tipicamente 3 a 5× mais que a entrada — respostas longas pesam.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Alavancas que baixam a conta: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3444240" cy="1051560"/>
          </a:xfrm>
          <a:prstGeom prst="roundRect">
            <a:avLst>
              <a:gd name="adj" fmla="val 7826"/>
            </a:avLst>
          </a:prstGeom>
          <a:solidFill>
            <a:srgbClr val="ECEAF7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0749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contexto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40680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 a entrada repetida a ~10% do preço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58640" y="4937760"/>
            <a:ext cx="3444240" cy="1051560"/>
          </a:xfrm>
          <a:prstGeom prst="roundRect">
            <a:avLst>
              <a:gd name="adj" fmla="val 7826"/>
            </a:avLst>
          </a:prstGeom>
          <a:solidFill>
            <a:srgbClr val="ECEAF7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87240" y="50749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(lote)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587240" y="5440680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50% de desconto em tarefas não urgentes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68640" y="4937760"/>
            <a:ext cx="3444240" cy="1051560"/>
          </a:xfrm>
          <a:prstGeom prst="roundRect">
            <a:avLst>
              <a:gd name="adj" fmla="val 7826"/>
            </a:avLst>
          </a:prstGeom>
          <a:solidFill>
            <a:srgbClr val="ECEAF7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97240" y="50749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menor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97240" y="5440680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token muito mais baixo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MODELOS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Preços de referência (por 1M de tokens)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219456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 (set/2026)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/ grande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GPT-6 Astra · Claude Opus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US$ 5–10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US$ 25–50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 · GPT-5.6 · Gemini 3 Pro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US$ 2–4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US$ 10–20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Pequeno / rápido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4.5 · Gemini 3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US$ 0,50–1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/ nano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nano · Gemini 2.5 Flash-Lite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US$ 0,05–0,20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US$ 0,40–1,25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resposta de um modelo frontier pode custar 100× mais que a do mesmo pedido num modelo mini. A diferença entre "caro" e "barato" é a escolha do modelo — não o número de chamadas.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de grandeza para comparação; preços exatos variam por fornecedor, versão e data. Sempre confirme na tabela oficial.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54864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4B3FB8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2788920"/>
            <a:ext cx="822960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que ganha ferramentas, um loop e um objetivo.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agente?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é um modelo colocado dentro de um loop,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autonomia para chamar ferramentas, observar o resultado e decidir o próximo passo até atingir um objetivo.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2940" y="27432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29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629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57500" y="274320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543300" y="27432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433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agem no mundo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37860" y="274320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423660" y="27432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2366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236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até concluir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18220" y="2743200"/>
            <a:ext cx="68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304020" y="27432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040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3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3040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443484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1A14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AGENTE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essencial: o modelo responde uma vez; o agente age em várias etapas para chegar a um fim.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anatomia do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26030" cy="2743200"/>
          </a:xfrm>
          <a:prstGeom prst="roundRect">
            <a:avLst>
              <a:gd name="adj" fmla="val 3258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0175" y="2286000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00175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decide o próximo passo a partir do objetivo e do que já sabe.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3751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</a:rPr>
              <a:t>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4710" y="1965960"/>
            <a:ext cx="2526030" cy="2743200"/>
          </a:xfrm>
          <a:prstGeom prst="roundRect">
            <a:avLst>
              <a:gd name="adj" fmla="val 3258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46245" y="228600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46245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13" name="Text 11"/>
          <p:cNvSpPr txBox="1"/>
          <p:nvPr/>
        </p:nvSpPr>
        <p:spPr>
          <a:xfrm>
            <a:off x="3577590" y="32004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23310" y="3657600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 uma ferramenta: buscar, ler arquivo, rodar código, consultar API.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78358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</a:rPr>
              <a:t>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0780" y="1965960"/>
            <a:ext cx="2526030" cy="2743200"/>
          </a:xfrm>
          <a:prstGeom prst="roundRect">
            <a:avLst>
              <a:gd name="adj" fmla="val 3258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92315" y="2286000"/>
            <a:ext cx="822960" cy="8229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92315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19" name="Text 17"/>
          <p:cNvSpPr txBox="1"/>
          <p:nvPr/>
        </p:nvSpPr>
        <p:spPr>
          <a:xfrm>
            <a:off x="6423660" y="32004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Observar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69380" y="3657600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resultado da ferramenta de volta como novo contexto.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2965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5CE7"/>
                </a:solidFill>
              </a:rPr>
              <a:t>➜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86850" y="1965960"/>
            <a:ext cx="2526030" cy="2743200"/>
          </a:xfrm>
          <a:prstGeom prst="roundRect">
            <a:avLst>
              <a:gd name="adj" fmla="val 3258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38385" y="2286000"/>
            <a:ext cx="822960" cy="822960"/>
          </a:xfrm>
          <a:prstGeom prst="ellipse">
            <a:avLst/>
          </a:prstGeom>
          <a:solidFill>
            <a:srgbClr val="4B3FB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38385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80" dirty="0"/>
          </a:p>
        </p:txBody>
      </p:sp>
      <p:sp>
        <p:nvSpPr>
          <p:cNvPr id="25" name="Text 23"/>
          <p:cNvSpPr txBox="1"/>
          <p:nvPr/>
        </p:nvSpPr>
        <p:spPr>
          <a:xfrm>
            <a:off x="9269730" y="32004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315450" y="3657600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Reavalia. Continua o ciclo até concluir a tarefa ou desistir.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5074920"/>
            <a:ext cx="5943600" cy="640080"/>
          </a:xfrm>
          <a:prstGeom prst="chevron">
            <a:avLst/>
          </a:prstGeom>
          <a:solidFill>
            <a:srgbClr val="ECEA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08960" y="50749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volta do loop é uma nova chamada ao modelo — reenviando todo o contexto acumulado.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dá poder a um agente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7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(tool use)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96596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que o agente pode chamar: buscar na web, ler/escrever arquivos, rodar código, acionar APIs e outros sistemas.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2044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7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456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RAG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4290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documentos e dados relevantes para dentro do prompt, para o modelo responder sobre informação que não estava no treino.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983480"/>
            <a:ext cx="777240" cy="7772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7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4919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48920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 reintroduzir fatos entre etapas ou sessões — o que dá continuidade, mas soma tokens de entrada.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× Agente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6C5CE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5394960" cy="2743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→ uma resposta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ferramentas nem 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não lembra nada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previsível: 1 chamada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 gerar, resumir, classificar, traduzir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286000"/>
            <a:ext cx="5394960" cy="2743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783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8346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objetivo → várias etapas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ferramentas e observa resultados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estado ao longo do loop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variável: N chamadas (imprevisível)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para: pesquisar, automatizar, resolver com passos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 agente custa muito mais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por token é o mesmo do modelo. O que muda é quantas vezes o modelo é chamado — e quanto contexto viaja a cada volta.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4424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69748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vira dezenas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do loop é uma nova requisição ao modelo.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468880"/>
            <a:ext cx="344424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41520" y="269748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↑↑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35204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cresce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7240" y="38862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+ resultados de ferramentas se acumulam no prompt.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68640" y="2468880"/>
            <a:ext cx="344424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51520" y="269748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10×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351520" y="35204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caro que 1 resposta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97240" y="38862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intervalo típico de multiplicação vs. uma única chamada.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CEA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custo:  </a:t>
            </a:r>
            <a:pPr indent="0" marL="0">
              <a:buNone/>
            </a:pPr>
            <a:r>
              <a:rPr lang="en-US" sz="145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o número de passos, use um modelo menor nas sub-tarefas, ative cache do contexto repetido e corte histórico desnecessário.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54864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4B3FB8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2788920"/>
            <a:ext cx="822960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Multiagentes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agentes coordenados — mais capacidade, muito mais custo.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sistema multiagente?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agentes especializados trabalhando juntos,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coordenados por um orquestrador que divide a tarefa e junta os resultados.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tem um papel (pesquisar, escrever, revisar, calcular).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rodar em paralelo, acelerando tarefas amplas.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 mensagens entre si — e cada troca consome tokens.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em qualidade e escopo; custo e complexidade sobem junto.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0" y="201168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1A14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6840" y="2743200"/>
            <a:ext cx="-1394460" cy="1280160"/>
          </a:xfrm>
          <a:prstGeom prst="line">
            <a:avLst/>
          </a:prstGeom>
          <a:noFill/>
          <a:ln w="19050">
            <a:solidFill>
              <a:srgbClr val="DAD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402336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6C5C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5160" y="40233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4809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06840" y="2743200"/>
            <a:ext cx="0" cy="1280160"/>
          </a:xfrm>
          <a:prstGeom prst="line">
            <a:avLst/>
          </a:prstGeom>
          <a:noFill/>
          <a:ln w="19050">
            <a:solidFill>
              <a:srgbClr val="DAD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9620" y="402336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9620" y="40233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89620" y="4809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06840" y="2743200"/>
            <a:ext cx="1394460" cy="1280160"/>
          </a:xfrm>
          <a:prstGeom prst="line">
            <a:avLst/>
          </a:prstGeom>
          <a:noFill/>
          <a:ln w="19050">
            <a:solidFill>
              <a:srgbClr val="DAD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0" y="402336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B0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784080" y="40233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784080" y="4809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5349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caixa é, por dentro, um agente com seu próprio loop.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Padrões comuns de arquitetura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214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Orquestrador–executores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coordenador divide a tarefa entre agentes e consolida as respostas.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214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(sequencial)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889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de um agente é a entrada do próximo — como uma linha de montagem.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33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Hierárquico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006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Agentes-gerentes delegam a sub-agentes, em vários níveis.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160520"/>
            <a:ext cx="640080" cy="640080"/>
          </a:xfrm>
          <a:prstGeom prst="ellipse">
            <a:avLst/>
          </a:prstGeom>
          <a:solidFill>
            <a:srgbClr val="4B3F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133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 / crítico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006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produz, outro critica e revisa, elevando a qualidade.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seguir, os três arranjos principais em detalhe: paralelo, sequencial e hierárquico.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 · ARRANJO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Paralelo — dispara e junta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2542032"/>
          </a:xfrm>
          <a:prstGeom prst="roundRect">
            <a:avLst>
              <a:gd name="adj" fmla="val 32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0" y="17373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A14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20640" y="1737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67044" y="2304288"/>
            <a:ext cx="27432" cy="182880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2473452"/>
            <a:ext cx="5303520" cy="2743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9" name="Shape 7"/>
          <p:cNvSpPr/>
          <p:nvPr/>
        </p:nvSpPr>
        <p:spPr>
          <a:xfrm>
            <a:off x="3415284" y="2487168"/>
            <a:ext cx="27432" cy="11887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10" name="Shape 8"/>
          <p:cNvSpPr/>
          <p:nvPr/>
        </p:nvSpPr>
        <p:spPr>
          <a:xfrm>
            <a:off x="6067044" y="2487168"/>
            <a:ext cx="27432" cy="11887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11" name="Shape 9"/>
          <p:cNvSpPr/>
          <p:nvPr/>
        </p:nvSpPr>
        <p:spPr>
          <a:xfrm>
            <a:off x="8718804" y="2487168"/>
            <a:ext cx="27432" cy="11887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12" name="Shape 10"/>
          <p:cNvSpPr/>
          <p:nvPr/>
        </p:nvSpPr>
        <p:spPr>
          <a:xfrm>
            <a:off x="2331720" y="260604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6C5C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331720" y="26426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subtarefa 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83480" y="260604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26426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B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subtarefa 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35240" y="260604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B0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35240" y="26426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subtarefa 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15284" y="3264408"/>
            <a:ext cx="27432" cy="137160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67044" y="3264408"/>
            <a:ext cx="27432" cy="137160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3" name="Shape 21"/>
          <p:cNvSpPr/>
          <p:nvPr/>
        </p:nvSpPr>
        <p:spPr>
          <a:xfrm>
            <a:off x="8718804" y="3264408"/>
            <a:ext cx="27432" cy="137160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3387852"/>
            <a:ext cx="5303520" cy="2743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7044" y="3401568"/>
            <a:ext cx="27432" cy="137160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538728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4B3FB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0" y="35387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resultados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49884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orquestrador dispara vários agentes ao mesmo tempo, cada um numa subtarefa independente, e junta as respostas no final.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5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32960" y="449884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3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2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65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Subtarefas que não dependem umas das outras: pesquisar fontes distintas, processar itens de uma lista, gerar variações.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6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442960" y="4498848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4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03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&amp; latência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46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baixa (tudo roda junto), mas o custo soma todos os agentes. Rápido — e caro. Cuidado ao juntar respostas conflitantes.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 · ARRANJO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Sequencial — linha de montagem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2542032"/>
          </a:xfrm>
          <a:prstGeom prst="roundRect">
            <a:avLst>
              <a:gd name="adj" fmla="val 32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331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68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Pesquisa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→ sai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20440" y="2331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368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Rascunho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→ sai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2368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Revisão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→ sai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189720" y="2331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4B3F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2368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Formatação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→ sai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56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de cada agente é a entrada do próximo.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49884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de montagem: a saída de um agente vira a entrada do seguinte, e cada etapa refina o trabalho da anterior.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5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2960" y="449884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3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2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5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ordem natural entre as etapas — pesquisar, redigir, revisar, formatar. Cada passo depende do resultado do anterior.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6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42960" y="4498848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4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03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&amp; latência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6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alta (etapas em série) e custo previsível/linear. Um elo que falha derruba toda a cadeia.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 · ARRANJO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Hierárquico — delega em níveis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2542032"/>
          </a:xfrm>
          <a:prstGeom prst="roundRect">
            <a:avLst>
              <a:gd name="adj" fmla="val 32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74920" y="1664208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1A14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74920" y="16642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67044" y="2194560"/>
            <a:ext cx="27432" cy="11887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8" name="Shape 6"/>
          <p:cNvSpPr/>
          <p:nvPr/>
        </p:nvSpPr>
        <p:spPr>
          <a:xfrm>
            <a:off x="3794760" y="2299716"/>
            <a:ext cx="4572000" cy="2743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9" name="Shape 7"/>
          <p:cNvSpPr/>
          <p:nvPr/>
        </p:nvSpPr>
        <p:spPr>
          <a:xfrm>
            <a:off x="3781044" y="2313432"/>
            <a:ext cx="27432" cy="155448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10" name="Shape 8"/>
          <p:cNvSpPr/>
          <p:nvPr/>
        </p:nvSpPr>
        <p:spPr>
          <a:xfrm>
            <a:off x="8353044" y="2313432"/>
            <a:ext cx="27432" cy="155448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246888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6C5C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34640" y="2505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sub-objetivo 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06640" y="246888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2505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sub-objetivo 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81044" y="2999232"/>
            <a:ext cx="27432" cy="109728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3095244"/>
            <a:ext cx="1554480" cy="2743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19" name="Shape 17"/>
          <p:cNvSpPr/>
          <p:nvPr/>
        </p:nvSpPr>
        <p:spPr>
          <a:xfrm>
            <a:off x="3003804" y="3108960"/>
            <a:ext cx="27432" cy="16459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58284" y="3108960"/>
            <a:ext cx="27432" cy="16459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53044" y="2999232"/>
            <a:ext cx="27432" cy="109728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3095244"/>
            <a:ext cx="1554480" cy="2743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3" name="Shape 21"/>
          <p:cNvSpPr/>
          <p:nvPr/>
        </p:nvSpPr>
        <p:spPr>
          <a:xfrm>
            <a:off x="7575804" y="3108960"/>
            <a:ext cx="27432" cy="16459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4" name="Shape 22"/>
          <p:cNvSpPr/>
          <p:nvPr/>
        </p:nvSpPr>
        <p:spPr>
          <a:xfrm>
            <a:off x="9130284" y="3108960"/>
            <a:ext cx="27432" cy="164592"/>
          </a:xfrm>
          <a:prstGeom prst="rect">
            <a:avLst/>
          </a:prstGeom>
          <a:solidFill>
            <a:srgbClr val="DAD7EC"/>
          </a:solidFill>
          <a:ln/>
        </p:spPr>
      </p:sp>
      <p:sp>
        <p:nvSpPr>
          <p:cNvPr id="25" name="Shape 23"/>
          <p:cNvSpPr/>
          <p:nvPr/>
        </p:nvSpPr>
        <p:spPr>
          <a:xfrm>
            <a:off x="2304288" y="3273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FB02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304288" y="3273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858768" y="3273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FB0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58768" y="3273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76288" y="3273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FB0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76288" y="3273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430768" y="3273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FB0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30768" y="3273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" y="449884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agente-gerente decompõe o objetivo e delega a líderes, que delegam a executores. Os resultados sobem de volta pela árvore.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35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32960" y="449884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63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22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465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grandes e ramificadas, com subprojetos que também precisam ser coordenados. Escala para muitos agentes.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168640" y="4224528"/>
            <a:ext cx="3444240" cy="1737360"/>
          </a:xfrm>
          <a:prstGeom prst="roundRect">
            <a:avLst>
              <a:gd name="adj" fmla="val 4737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442960" y="4498848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44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037320" y="4443984"/>
            <a:ext cx="239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&amp; latência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461248" y="5138928"/>
            <a:ext cx="285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custo e a maior complexidade: coordenação em vários níveis. Muito poderoso, porém difícil de depurar.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Paralelo × Sequencial × Hierárquico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Hierárquico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Leque: dispara e junta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Linha: um após o outro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Árvore: delega em níveis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Etapas independentes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etapa depende da anterior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Sub-tarefas coordenadas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(simultâneo)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(em série)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(vários níveis)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dos agentes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Previsível, linear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(coordenação)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divisível e independente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natural de etapas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 grandes e ramificados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Juntar respostas conflitantes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elo quebra a cadeia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Complexo de depurar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sistemas reais combinam os três — um gerente hierárquico cujos líderes rodam executores em paralelo, dentro de um pipeline.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vale a pena — e quando não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731520"/>
          </a:xfrm>
          <a:prstGeom prst="roundRect">
            <a:avLst>
              <a:gd name="adj" fmla="val 11250"/>
            </a:avLst>
          </a:prstGeom>
          <a:solidFill>
            <a:srgbClr val="1E8E6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40280"/>
            <a:ext cx="5394960" cy="274320"/>
          </a:xfrm>
          <a:prstGeom prst="rect">
            <a:avLst/>
          </a:prstGeom>
          <a:solidFill>
            <a:srgbClr val="1E8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 Faz sentido quando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é ampla e se divide em partes distintas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especializados elevam a qualidade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paralelizar e ganhar tempo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crítico separado reduz erros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5394960" cy="731520"/>
          </a:xfrm>
          <a:prstGeom prst="roundRect">
            <a:avLst>
              <a:gd name="adj" fmla="val 11250"/>
            </a:avLst>
          </a:prstGeom>
          <a:solidFill>
            <a:srgbClr val="B552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240280"/>
            <a:ext cx="5394960" cy="274320"/>
          </a:xfrm>
          <a:prstGeom prst="rect">
            <a:avLst/>
          </a:prstGeom>
          <a:solidFill>
            <a:srgbClr val="B552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783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✖  Evite quando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7889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agente já resolve bem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é simples ou de baixa latência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importa mais que o ganho marginal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coordenação adiciona mais erro do que valor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· MULTIAGENTES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custo explode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agente já multiplica as chamadas, um sistema multiagente multiplica os agentes. Os custos se somam — e às vezes se multiplicam.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4424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69748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N×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agentes, N× loops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roda seu próprio ciclo de chamadas ao modelo.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468880"/>
            <a:ext cx="344424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41520" y="269748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35204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coordenação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87240" y="38862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mensagens trocadas entre agentes são tokens extras.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68640" y="2468880"/>
            <a:ext cx="344424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51520" y="2697480"/>
            <a:ext cx="307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15×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51520" y="35204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caro que 1 agente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97240" y="38862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grandeza típica citada por quem opera esses sistemas.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CEA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escalar:  </a:t>
            </a:r>
            <a:pPr indent="0" marL="0">
              <a:buNone/>
            </a:pPr>
            <a:r>
              <a:rPr lang="en-US" sz="145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1 agente, meça o custo real, e só adicione agentes onde o ganho de qualidade paga a conta. Use modelos pequenos nos executores.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× Agente × Multiagente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83464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1 vez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em etapas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 vários agentes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(por agente)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Memória/estado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o loop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Compartilhado/trocado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relativo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~15×+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Média/alta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 única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 com passos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 ampla e dividida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três se encaixam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852160" cy="3840480"/>
          </a:xfrm>
          <a:prstGeom prst="roundRect">
            <a:avLst>
              <a:gd name="adj" fmla="val 2857"/>
            </a:avLst>
          </a:prstGeom>
          <a:solidFill>
            <a:srgbClr val="F0EFFB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  ·  coordena agentes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34440" y="2468880"/>
            <a:ext cx="4846320" cy="2606040"/>
          </a:xfrm>
          <a:prstGeom prst="roundRect">
            <a:avLst>
              <a:gd name="adj" fmla="val 4211"/>
            </a:avLst>
          </a:prstGeom>
          <a:solidFill>
            <a:srgbClr val="E9F7F4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2606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 ·  modelo + ferramentas +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32461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6C5C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9164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que raciocina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874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são alternativas — são camadas.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o núcleo que raciocina.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é um modelo embrulhado em um loop com ferramentas.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multiagente é um time de agentes com um coordenador.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adiciona capacidade — e custo — sobre a de dentro.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 (do mais barato ao mais caro)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3100"/>
            <a:ext cx="777240" cy="7772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31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9019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chamada resolve?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34086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tarefa é única (gerar, resumir, classificar), use só o MODELO.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235440" y="20116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332988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332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291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de passos e ferramentas?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7307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exige buscar, agir e iterar até um objetivo, use um AGENTE.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35440" y="3401568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34015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17136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722876"/>
            <a:ext cx="777240" cy="7772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7228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46817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tarefa é ampla e divisível?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51206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papéis distintos e paralelismo compensa, aí sim MULTIAGENTE.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35440" y="4791456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FB02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35440" y="479145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 de camada só quando a de baixo não resolve. Cada degrau multiplica o custo.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alavancas para gastar menos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84832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certo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24912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menor modelo que entrega qualidade aceitável.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2960" y="210312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29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5364480" y="2084832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de contexto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51248" y="2724912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 entradas repetidas a uma fração do preço.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6864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2960" y="2103120"/>
            <a:ext cx="594360" cy="5943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29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9174480" y="2084832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/ lote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61248" y="2724912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em tarefas que não são urgentes.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77640"/>
            <a:ext cx="594360" cy="594360"/>
          </a:xfrm>
          <a:prstGeom prst="ellipse">
            <a:avLst/>
          </a:prstGeom>
          <a:solidFill>
            <a:srgbClr val="4B3F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59352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Limitar o loop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599432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de passos evita agentes rodando à toa.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8640" y="370332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2960" y="397764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3296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5364480" y="3959352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enxuto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651248" y="4599432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tokens de entrada e de saída por chamada.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68640" y="370332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4F3FA"/>
          </a:solidFill>
          <a:ln w="12700">
            <a:solidFill>
              <a:srgbClr val="DAD7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97C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42960" y="397764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4296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9174480" y="3959352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sempre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8461248" y="4599432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o custo real por tarefa antes de escalar.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Agentes · Multiagentes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pensa. O agente age. O multiagente organiza um time.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4B3FB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3832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é a de baixo + mais autonomia.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→ agente → multiagente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8640" y="31089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4B3FB8"/>
          </a:solidFill>
          <a:ln/>
        </p:spPr>
      </p:sp>
      <p:sp>
        <p:nvSpPr>
          <p:cNvPr id="11" name="Shape 9"/>
          <p:cNvSpPr/>
          <p:nvPr/>
        </p:nvSpPr>
        <p:spPr>
          <a:xfrm>
            <a:off x="4632960" y="33832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3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4632960" y="402336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sobe rápido com a camada.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632960" y="466344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~1× → ~10× → ~15×+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68640" y="31089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4B3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2960" y="33832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A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8442960" y="402336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camada mais simples que resolve.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42960" y="466344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meça o custo antes de escalar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de referência: setembro/2026 — confirme sempre na tabela oficial do fornecedor.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Modelos, Agentes e Multiagentes</dc:title>
  <dc:subject>PptxGenJS Presentation</dc:subject>
  <dc:creator>Cláudio Melo</dc:creator>
  <cp:lastModifiedBy>Cláudio Melo</cp:lastModifiedBy>
  <cp:revision>1</cp:revision>
  <dcterms:created xsi:type="dcterms:W3CDTF">2026-09-18T15:22:33Z</dcterms:created>
  <dcterms:modified xsi:type="dcterms:W3CDTF">2026-09-18T15:22:33Z</dcterms:modified>
</cp:coreProperties>
</file>